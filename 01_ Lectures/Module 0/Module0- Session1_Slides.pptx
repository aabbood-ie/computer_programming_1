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Final Exam</c:v>
                </c:pt>
                <c:pt idx="1">
                  <c:v>Individual Work</c:v>
                </c:pt>
                <c:pt idx="2">
                  <c:v>Intermediate Tests</c:v>
                </c:pt>
                <c:pt idx="3">
                  <c:v>Group Work</c:v>
                </c:pt>
                <c:pt idx="4">
                  <c:v>Participation</c:v>
                </c:pt>
                <c:pt idx="5">
                  <c:v>Presentation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01-4316-9C20-87CB35C8D33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005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&amp; General C Language Review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9808" y="4160520"/>
            <a:ext cx="1463040" cy="54864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0/6 — C Language Basics Refresh   •   From Python foundations to C fundamentals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Anas Abbood  |  BCSAI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54533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54533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evaluation, policies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154533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78040" y="154533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C Mindset Shift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1947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vs. interpreted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289864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289864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C Program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3009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main(), headers, syntax rules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77063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289864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78040" y="289864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Operators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33009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typing, arithmetic, integer division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42519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08760" y="42519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&amp; Functions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65429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if/switch/loops, prototypes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12394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82512" y="42519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78040" y="42519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 &amp; I/O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78040" y="465429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 / scanf, fixed-size arrays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477256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560527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508760" y="56052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08760" y="60076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exercises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5477256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82512" y="560527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178040" y="56052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Next Steps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78040" y="60076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Session 2 prep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Modules, 30 Sessions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08792" cy="45720"/>
          </a:xfrm>
          <a:prstGeom prst="rect">
            <a:avLst/>
          </a:prstGeom>
          <a:solidFill>
            <a:srgbClr val="D9D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3035808"/>
            <a:ext cx="512064" cy="512064"/>
          </a:xfrm>
          <a:prstGeom prst="ellipse">
            <a:avLst/>
          </a:prstGeom>
          <a:solidFill>
            <a:srgbClr val="3D5AF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-45720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Basics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-45720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02180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02180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72412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Debugging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772412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S3–4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0312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0312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90544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90544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38444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38444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08676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08676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S8–10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56576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56576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6808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26808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S11–14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74708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74708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44940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44940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S15–16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292840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292840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863072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Sockets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863072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S17–21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89204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5074920"/>
            <a:ext cx="10451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 →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kicks off Module 0, a fast refresh of C fundamentals before we build up to pointers (Module 2), concurrency (Module 5), and networked systems (Module 6).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You're Evaluated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371600"/>
            <a:ext cx="3840480" cy="4846320"/>
          </a:xfrm>
          <a:prstGeom prst="roundRect">
            <a:avLst>
              <a:gd name="adj" fmla="val 190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9244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 AREAS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92440" y="196596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(30%) — memory model, syntax, data handling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 (20%) — pointers, data structures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Tests (20%) — control flow, allocation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 (15%) — threads / sockets, teamwork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(10%) — debugging exercises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(5%) — teamwork engagement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Stack &amp; 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 — configures &amp; compiles the project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84448" y="16459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8444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2128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framework for verifying correctness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19088" y="16459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2128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dependency management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53728" y="16459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5372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22128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— terminal-to-IDE workflow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11091672" cy="2331720"/>
          </a:xfrm>
          <a:prstGeom prst="roundRect">
            <a:avLst>
              <a:gd name="adj" fmla="val 3922"/>
            </a:avLst>
          </a:prstGeom>
          <a:solidFill>
            <a:srgbClr val="FDF3F3"/>
          </a:solidFill>
          <a:ln w="12700">
            <a:solidFill>
              <a:srgbClr val="E3B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 &amp; AI 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069080"/>
            <a:ext cx="104515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NOT permitted for graded assessments 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course unless explicitly authorized by the instructor. Using it on assessed work is academic misconduct and may result in failing the assignment or course.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below 80% attendance = automatic failure of both ordinary and extraordinary calls.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Hides the Machine. C Exposes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6384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1672" cy="841248"/>
          </a:xfrm>
          <a:prstGeom prst="rect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0" y="1737360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Interpreted, line by 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0" y="1737360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fully before running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578608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0" y="2578608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types resolved at runtime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63840" y="2578608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types fixed at compile time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11091672" cy="841248"/>
          </a:xfrm>
          <a:prstGeom prst="rect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419856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0" y="3419856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(garbage collected)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0" y="3419856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(you allocate &amp; free)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4261104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14800" y="4261104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only appear at runtime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63840" y="4261104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caught before the program runs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11091672" cy="841248"/>
          </a:xfrm>
          <a:prstGeom prst="rect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5102352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114800" y="5102352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interpreter to run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0" y="5102352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standalone executable (.exe)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035040" cy="3291840"/>
          </a:xfrm>
          <a:prstGeom prst="roundRect">
            <a:avLst>
              <a:gd name="adj" fmla="val 1667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printf("Hello, World!\n");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426464"/>
            <a:ext cx="128016" cy="128016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0" y="13258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62763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 directive — inserts I/O declarations (not a Python import)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2295144"/>
            <a:ext cx="128016" cy="128016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0" y="21945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49631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execution always starts here; int reports exit status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0" y="3163824"/>
            <a:ext cx="128016" cy="128016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30632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Semicolons &amp; { 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336499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and statements are explicit — no indentation-based scoping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0" y="4032504"/>
            <a:ext cx="128016" cy="128016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0" y="39319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0;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423367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success, non-zero = error, reported back to the OS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Compilation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0848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source.c → source.i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/ #define expanded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72968" y="31089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93592" y="20848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93592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93592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source.i → source.s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93592" y="3886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to assembly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0" y="31089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55664" y="20848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55664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5664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source.s → source.o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55664" y="3886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machine code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97112" y="31089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17736" y="20848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317736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17736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source.o → program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17736" y="3886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libraries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program.c -o program   runs all four stages automatically in one command.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&amp; Static Typing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7373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Type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417320"/>
            <a:ext cx="137160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417320"/>
            <a:ext cx="3931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904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1417320"/>
            <a:ext cx="283464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0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Equivalent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0" y="1920240"/>
            <a:ext cx="1371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77440" y="19202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0" y="192024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49040" y="1920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589520" y="192024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096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423160"/>
            <a:ext cx="173736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2423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86000" y="2423160"/>
            <a:ext cx="137160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77440" y="2423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0" y="2423160"/>
            <a:ext cx="393192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49040" y="2423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Single-precision decimal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89520" y="2423160"/>
            <a:ext cx="283464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80960" y="2423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2926080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2926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286000" y="2926080"/>
            <a:ext cx="1371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77440" y="29260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0" y="292608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49040" y="2926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Double-precision decimal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589520" y="292608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8096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(default)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3429000"/>
            <a:ext cx="173736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3429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286000" y="3429000"/>
            <a:ext cx="137160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77440" y="3429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byte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657600" y="3429000"/>
            <a:ext cx="393192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49040" y="3429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character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589520" y="3429000"/>
            <a:ext cx="283464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680960" y="3429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of length 1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3931920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0080" y="3931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286000" y="3931920"/>
            <a:ext cx="1371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37744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657600" y="393192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749040" y="3931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type" / no value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589520" y="393192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80960" y="3931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48640" y="46634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7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2296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PYTHON-TO-C PITFALL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22960" y="516636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x = 5 then x = "five" is legal. In C, once declared int x, that variable can only ever hold an int — reassigning a different type fails to compile or silently truncates the value.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— And the Integer Division Trap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468880" y="1417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68880" y="22402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&lt;  &gt;  &lt;=  &gt;=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468880" y="3063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 ||   !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468880" y="38862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+=  -=  *=  /=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Inc/Decrement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468880" y="4709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  --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41732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EXAM FAVORITE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Division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37960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A9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59536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37960" y="3200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operands are int, so the result is truncated toward zero — not rounded.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3977640"/>
            <a:ext cx="4846320" cy="18288"/>
          </a:xfrm>
          <a:prstGeom prst="rect">
            <a:avLst/>
          </a:prstGeom>
          <a:solidFill>
            <a:srgbClr val="3B4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A9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2.0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595360" y="4160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3.5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537960" y="4754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at least one operand a float/double to force a decimal result.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90) {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printf("A\n");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80) {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printf("B\n");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printf("F\n");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46520" y="155448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j = 0; j &lt; 5; j++) {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printf("%d\n", j);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 ; condition ; update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FROM PYTHON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31596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Braces {} define blocks — indentation has no syntactic meaning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uses three explicit parts (init; condition; update), not an iterator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exists in C; forgetting break; causes fall-through into the next case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in 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0" cy="3794760"/>
          </a:xfrm>
          <a:prstGeom prst="roundRect">
            <a:avLst>
              <a:gd name="adj" fmla="val 1446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943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Prototype (declaration)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 = add(3, 4);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printf("%d\n", result);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Definition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146304" cy="14630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43800" y="1481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return 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43800" y="181051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declares what type it returns (or void)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69480" y="2834640"/>
            <a:ext cx="146304" cy="14630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43800" y="27157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43800" y="304495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if a function is called before it's defined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4069080"/>
            <a:ext cx="146304" cy="14630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43800" y="39502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Pass-by-value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43800" y="427939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receive copies of arguments, not the originals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Arrays, Strings &amp; Console I/O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scores[5] = {90, 85, 77, 92, 60};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scores[0]);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name[6] = "Alice";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printf("%s\n", name);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46520" y="16002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printf("Enter age: ");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&amp;age);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printf("You are %d\n", age);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22452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have a FIXED size — no automatic resizing like Python lists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= char arrays ending in the null terminator '\0'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bounds checking — out-of-range access is undefined behavior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 needs &amp; (an address) to know WHERE to store the value — a preview of pointers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Time — 30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exN.c -o exN &amp;&amp; ./exN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21305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int, float, char; print all three with correct format specifiers.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130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69880" y="21305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Converter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Celsius via scanf, convert to Fahrenheit, print with %.2f.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33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42336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Classifier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937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score, print letter grade with if/else, then rewrite with switch.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069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4233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69880" y="42336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Statistics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4937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sum and average of a 5-element int array (stretch goal).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84124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08760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four stages of C compilation, in order?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532888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350008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7 / 2 evaluate to 3 in C?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11091672" cy="84124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3374136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191256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&amp; mean in scanf("%d", &amp;age)?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4215384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32504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terminates every C string internally?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873752"/>
            <a:ext cx="11091672" cy="84124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5056632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873752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forget break; in a switch?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answer key with all 8 questions is in the Session 1 lecture notes.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035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compiled &amp; statically typed; Python is interpreted &amp; dynamically typed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starts at int main(void) — braces &amp; semicolons define structure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fixed-size and unchecked; strings end in '\0'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&amp; in scanf is your first hint that pointers matter — coming in Module 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1691640"/>
            <a:ext cx="47091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2 — TOOLING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22376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arrive, please: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0" y="274320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GCC/Clang — verify with gcc --version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Miniconda/Anaconda — verify conda --version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 + C/C++ and CMake Tools extensions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today's exercises straight from the terminal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1557</Words>
  <Application>Microsoft Office PowerPoint</Application>
  <PresentationFormat>Widescreen</PresentationFormat>
  <Paragraphs>338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ANAS ABBOOD</cp:lastModifiedBy>
  <cp:revision>2</cp:revision>
  <dcterms:created xsi:type="dcterms:W3CDTF">2026-08-13T11:31:17Z</dcterms:created>
  <dcterms:modified xsi:type="dcterms:W3CDTF">2026-08-13T12:07:38Z</dcterms:modified>
</cp:coreProperties>
</file>