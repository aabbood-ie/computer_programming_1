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00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•  MODULE 1/6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Debugging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 &amp; 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" y="3977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Assertions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3977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85232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with GoogleTest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errors  •  Detection  •  Testing  •  Handling — with live demos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Anas Abbood  |  BCSAI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SESSIONS, ONE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3152" cy="1170432"/>
          </a:xfrm>
          <a:prstGeom prst="rect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453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54533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Error Handling?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no exceptions — the developer's job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73152" cy="1170432"/>
          </a:xfrm>
          <a:prstGeom prst="rect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5453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78040" y="154533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Errors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tell them apart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770632"/>
            <a:ext cx="73152" cy="1170432"/>
          </a:xfrm>
          <a:prstGeom prst="rect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898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Each Type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3009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Compiler, assert(), return codes, errno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2770632"/>
            <a:ext cx="73152" cy="1170432"/>
          </a:xfrm>
          <a:prstGeom prst="rect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2898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2898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Each Type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3009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flows: return / exit / quick_exit / abort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123944"/>
            <a:ext cx="73152" cy="1170432"/>
          </a:xfrm>
          <a:prstGeom prst="rect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5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508760" y="4251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Bugs to Tests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46542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assertions alone aren't enough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4123944"/>
            <a:ext cx="73152" cy="1170432"/>
          </a:xfrm>
          <a:prstGeom prst="rect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5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78040" y="4251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with GTest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46542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TEST(), ASSERT_* vs EXPECT_*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5477256"/>
            <a:ext cx="73152" cy="1170432"/>
          </a:xfrm>
          <a:prstGeom prst="rect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56052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5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508760" y="5605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+ CTest Workflow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08760" y="60076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run, read PASS/FAIL status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47725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5477256"/>
            <a:ext cx="73152" cy="1170432"/>
          </a:xfrm>
          <a:prstGeom prst="rect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6520" y="56052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5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178040" y="5605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Throughout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178040" y="60076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code, real terminal output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2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389120" cy="4389120"/>
          </a:xfrm>
          <a:prstGeom prst="ellipse">
            <a:avLst/>
          </a:prstGeom>
          <a:solidFill>
            <a:srgbClr val="7A3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389120"/>
            <a:ext cx="3291840" cy="3291840"/>
          </a:xfrm>
          <a:prstGeom prst="ellipse">
            <a:avLst/>
          </a:prstGeom>
          <a:solidFill>
            <a:srgbClr val="7A3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Assertions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BE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 programs detect, signal, and respond to things going wrong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Error Handling? C Gives You No Safety 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no try/catch. If you don't check for errors explicitly, your program crashes mysteriously — or worse, keeps running with wrong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92808" y="24688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76272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76272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3904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03904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48072" y="24688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31536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31536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75704" y="24688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59168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59168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03336" y="24688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0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0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30968" y="24688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314432" y="24688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14432" y="2468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TOOL FITS IN THE PIPELINE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Build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9184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errors — syntax, types, missing declarations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(dev-time)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9184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— catch programmer logic errors before release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/ Runtime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codes + errno — handle conditions users can trigger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91840" y="5440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tools — investigate failures reported after release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KEY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Types of Errors in 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Errors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Syntax/type mistakes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2359152" cy="18288"/>
          </a:xfrm>
          <a:prstGeom prst="rect">
            <a:avLst/>
          </a:prstGeom>
          <a:solidFill>
            <a:srgbClr val="D9D9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9136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41879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"hi";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0" y="14630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75888" y="1664208"/>
            <a:ext cx="502920" cy="502920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75888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 (Bugs)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971800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the programmer's own assumptions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794760"/>
            <a:ext cx="2359152" cy="18288"/>
          </a:xfrm>
          <a:prstGeom prst="rect">
            <a:avLst/>
          </a:prstGeom>
          <a:solidFill>
            <a:srgbClr val="D9D9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0" y="39136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0" y="41879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70916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4983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divide(x, 0)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14630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01968" y="1664208"/>
            <a:ext cx="502920" cy="502920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01968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23317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Runtime Errors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2971800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Environment/user-triggered, expected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794760"/>
            <a:ext cx="2359152" cy="18288"/>
          </a:xfrm>
          <a:prstGeom prst="rect">
            <a:avLst/>
          </a:prstGeom>
          <a:solidFill>
            <a:srgbClr val="D9D9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39136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41879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codes + errno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470916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83680" y="4983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not found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26880" y="146304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28048" y="1664208"/>
            <a:ext cx="502920" cy="502920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528048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509760" y="23317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/ Unrecoverable Errors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509760" y="2971800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can't safely continue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509760" y="3794760"/>
            <a:ext cx="2359152" cy="18288"/>
          </a:xfrm>
          <a:prstGeom prst="rect">
            <a:avLst/>
          </a:prstGeom>
          <a:solidFill>
            <a:srgbClr val="D9D9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509760" y="39136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09760" y="41879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abort()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509760" y="470916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509760" y="4983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Corrupted state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Compile-Time Errors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before your program ever runs — the compiler refuses to build.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82880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19656"/>
            <a:ext cx="515721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"hello";   // type mismatch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 x)  // missing comma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missing semicolon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18288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819656"/>
            <a:ext cx="506577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broken.c -o broken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broken.c:2:13: error: incompatible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integer to pointer conversion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broken.c:3:19: error: expected ')'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broken.c:4:12: error: expected ';'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91672" cy="2194560"/>
          </a:xfrm>
          <a:prstGeom prst="roundRect">
            <a:avLst>
              <a:gd name="adj" fmla="val 3333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 top-to-bottom — the FIRST error is usually the real cause; later ones can cascade from 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tells you the exact file and line number — go there first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"test" or "catch" at runtime — fix the code and recompile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Errors — Detect with assert()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 error breaks an assumption YOU made as the programmer — it should never happen if your code is correct.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2834640"/>
          </a:xfrm>
          <a:prstGeom prst="roundRect">
            <a:avLst>
              <a:gd name="adj" fmla="val 1613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5157216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&lt;assert.h&gt;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testTriangleType(int a,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int b, int c)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 sides are positive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assert(a &gt; 0 &amp;&amp; b &gt; 0 &amp;&amp; c &gt; 0);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 triangle inequality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assert(a + b &gt; c &amp;&amp;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 + c &gt; a &amp;&amp;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 + a &gt; b);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HOLDS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testTriangleType(3, 4, 5);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nothing happens, program continues normally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3063240"/>
            <a:ext cx="4937760" cy="18288"/>
          </a:xfrm>
          <a:prstGeom prst="rect">
            <a:avLst/>
          </a:prstGeom>
          <a:solidFill>
            <a:srgbClr val="3B4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3246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FAILS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testTriangleType(1, 2, 3);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931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 failed: a + b &gt; c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assertexample.c, line 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program terminates via abort()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preconditions/postconditions only impossible bugs would trigger.  Never for: user input, file errors, or anything that can legitimately happen at runtime.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 Runtime Errors — Return Codes + errno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a well-behaved user or environment CAN trigger: a missing file, invalid input, division by zero from user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2468880"/>
          </a:xfrm>
          <a:prstGeom prst="roundRect">
            <a:avLst>
              <a:gd name="adj" fmla="val 1852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5157216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divide(int a, int b, int *result)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 == 0)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  // error code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*result = a / b;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       // success code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error = divide(10, 0, &amp;res);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(error != 0)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fprintf(stderr, "Div by zero!\n");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RETURN-CODE CONVENTION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22402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2240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74320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(or other non-zero)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743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— inspect errno for detail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errno (from &lt;errno.h&gt;) + strerror()/perror() give the WHY once you know something failed.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return value before using a result. Write the real answer through an output pointer parameter; reserve the return value purely for the success/error signal.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Text Box 1">
            <a:extLst>
              <a:ext uri="{FF2B5EF4-FFF2-40B4-BE49-F238E27FC236}">
                <a16:creationId xmlns:a16="http://schemas.microsoft.com/office/drawing/2014/main" id="{E67F74B6-7FC1-E586-6409-00BE495DDFC7}"/>
              </a:ext>
            </a:extLst>
          </p:cNvPr>
          <p:cNvSpPr txBox="1"/>
          <p:nvPr/>
        </p:nvSpPr>
        <p:spPr>
          <a:xfrm>
            <a:off x="9401302" y="145050"/>
            <a:ext cx="2850403" cy="149047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buNone/>
            </a:pPr>
            <a:r>
              <a:rPr lang="en-US" sz="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standard?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 is </a:t>
            </a:r>
            <a:r>
              <a:rPr lang="en-US" sz="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C language rule</a:t>
            </a: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saying: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 = success 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-1 = error 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</a:t>
            </a:r>
            <a:r>
              <a:rPr lang="en-US" sz="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 meaning success is a very common convention</a:t>
            </a: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particularly for functions that return a status code.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can write it in this way: 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 100; // success return 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-5; // division by zero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2926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88752" y="2926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errno in 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3291840"/>
          </a:xfrm>
          <a:prstGeom prst="roundRect">
            <a:avLst>
              <a:gd name="adj" fmla="val 1389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5157216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</a:t>
            </a:r>
            <a:r>
              <a:rPr lang="en-US" sz="105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errno.h</a:t>
            </a: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main(int argc, char *argv[])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*fp;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*filename = argv[1];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 = fopen(filename, "r");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(errno != 0)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printf("errno is %d\n", errno);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perror("Message from perror");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printf("Error: %s\n",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strerror(errno));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3291840"/>
          </a:xfrm>
          <a:prstGeom prst="roundRect">
            <a:avLst>
              <a:gd name="adj" fmla="val 138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8232" y="1591056"/>
            <a:ext cx="5065776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./errnoexample missing.txt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 is 2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from perror: No such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or directory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No such file or directory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$?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Program didn't crash — it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detected, reported, and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continued running.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sample2_errno/errnoexample.c — one of this course's real in-class demo projects. Run it with a valid filename too and compare errno's value.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Fatal Errors — Program Exit 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program truly cannot continue safely, C gives you four ways to stop — each with different cleanup guarantees.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Behavior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77724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(from main)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500884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E7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25008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atexit() handlers, flushes streams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exit(code)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3278124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E7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32781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(from anywhere)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30632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atexit() handlers, flushes streams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91672" cy="77724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quick_exit(code)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055364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40553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8404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at_quick_exit() handlers only — no flush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abort()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0" y="4832604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0" y="48326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35040" y="46177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handlers run, NO flush — for unrecoverable state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2926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88752" y="2926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Flows in 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3200400"/>
          </a:xfrm>
          <a:prstGeom prst="roundRect">
            <a:avLst>
              <a:gd name="adj" fmla="val 1429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515721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atexit(atExitAction);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at_quick_exit(atQuickExitAction);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param = atoi(argv[1]);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(param)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0: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printf("Normal exit\n");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exit(0);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printf("Quick exit\n");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quick_exit(0);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printf("Abort\n");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abort();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THEN VERIFY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./exitflows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2585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AtExit action invoked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195560" y="196596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1E7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95560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exit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./exitflows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218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QuickExit action invoked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95560" y="292608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9556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./exitflows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178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handler runs) Aborted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95560" y="388620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95560" y="3886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sample4_exitflows/exitflows.c. Only exit(0) and quick_exit(0) trigger their respective cleanup handler — abort() skips both. Any code after these calls is unreachable.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Assertion Side-Effect Trap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assert()'s argument is just an expression the compiler evaluates — nothing stops you from accidentally writing = instead of ==.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4303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7;
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assert(x = 5);   </a:t>
            </a:r>
            <a:r>
              <a:rPr lang="en-US" sz="15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BUG: this ASSIGNS 5 to x!
</a:t>
            </a:r>
            <a:r>
              <a:rPr lang="en-US" sz="150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// The expression 5 is truthy,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// so the assertion NEVER fails —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// even though x is now silently wrong.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WRONG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assert(x = 5);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Assignment. Always truthy. Corrupts x and never catches anything.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41605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assert(x == 5);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5074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Comparison. Fails loudly and correctly if x isn't 5.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Assertions &amp; Turning Assertions 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static_assert — checked at COMPILE time, zero runtime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773936"/>
            <a:ext cx="515721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ARRAYSIZE 11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char prefix[] = "Error No:";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str[ARRAYSIZE];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static_assert(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sizeof(str) &gt; sizeof(prefix),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 must be larger than prefix");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strcpy(str, prefix);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Disable Assertions for Release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NDEBUG macro before &lt;assert.h&gt;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the -DNDEBUG flag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CMAKE_BUILD_TYPE=Release (defines NDEBUG for you)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vanish entirely in release builds. Never rely on an assert() for anything your program actually needs to happen at runtime — e.g., never hide a required side effect inside one.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2926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88752" y="2926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Assertions in Action — Triangle Classifier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3200400"/>
          </a:xfrm>
          <a:prstGeom prst="roundRect">
            <a:avLst>
              <a:gd name="adj" fmla="val 1429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515721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testTriangleType(int a, int b, int c)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assert(a &gt; 0 &amp;&amp; b &gt; 0 &amp;&amp; c &gt; 0);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assert(a + b &gt; c &amp;&amp; b + c &gt; a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&amp;&amp; c + a &gt; b);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 == b &amp;&amp; b == c)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printf("Equilateral\n");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(a == b || b == c || c == a)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printf("Isosceles\n");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printf("Scalene\n");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testTriangleType(3, 4, 5);   // OK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testTriangleType(1, 2, 3);   // BUG!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320040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8232" y="1591056"/>
            <a:ext cx="506577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./assertexample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Equilateral triangle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Isosceles triangle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Scalene triangle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assertexample: assertexample.c:8: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testTriangleType: Assertion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`a + b &gt; c &amp;&amp; b + c &gt; a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&amp;&amp; c + a &gt; b' failed.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$?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  # killed by SIGABRT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sample3_assertions/assertexample.c. Exit status 134 = 128 + signal 6 (SIGABRT) — the OS-level fingerprint of abort(). Compare this to errno's graceful status 0 on the earlier demo.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 for Which Error?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9669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65836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passed an invalid filename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code + errno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66960" y="201168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violates its documented contract (e.g., divide by zero when caller promised not to)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0" y="26700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6960" y="267004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11091672" cy="65836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328416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allocation failed (malloc returns NULL)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0" y="332841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code / NULL check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6960" y="332841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986784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invariant only a bug could break (array index out of bounds from your own code)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0" y="398678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66960" y="398678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645152"/>
            <a:ext cx="11091672" cy="65836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645152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might be too small — known at compile time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46451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static_assert()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66960" y="46451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1/2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530352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state is corrupted beyond safe recovery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0" y="53035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0" y="53035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3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389120" cy="4389120"/>
          </a:xfrm>
          <a:prstGeom prst="ellipse">
            <a:avLst/>
          </a:prstGeom>
          <a:solidFill>
            <a:srgbClr val="1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389120"/>
            <a:ext cx="3291840" cy="3291840"/>
          </a:xfrm>
          <a:prstGeom prst="ellipse">
            <a:avLst/>
          </a:prstGeom>
          <a:solidFill>
            <a:srgbClr val="1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A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with GoogleTest &amp; CMake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5th layer of defense: catching regressions automatically, every time your code changes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SESSION 3 →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Assertions Alone Aren't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only fire on the exact inputs someone happens to run. A 5th error type slips past them: regressions — code that used to work, but silently breaks after a later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(Session 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assumptions WHILE the program runs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 the one input path you happened to execute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 run — you eyeball the printf output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out entirely in release builds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9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(Session 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function's BEHAVIOR is correct, on demand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every branch you write a test for — systematically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— one command re-checks everything, every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CI, before every release, forever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Unit Testing?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testable part of an application — usually a single function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2148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verifies a unit behaves as expected for a given input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2926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with confidence — if all tests still pass, you didn't break anything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E9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defects are injected during coding but found — and expensively fixed — much later. Shift-left means moving testing as early as possible, ideally right alongside writing the code, so defects are caught while they're still cheap.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3949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(fast, cheap)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539496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5394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53949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5394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(slow, costly)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GoogleTest (GTest)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499616"/>
            <a:ext cx="48828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TEST(TestSuiteName, TestName)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test body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EXPECT_EQ(add(2, 3), 5);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one test case. Each TEST() is independent and gets its own PASS/FAIL result.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98280" y="13716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55648"/>
            <a:ext cx="5394960" cy="420624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7556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ASSERT_EQ(a, 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98280" y="175564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test immediately on failure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1762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ASSERT_TRUE(c)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98280" y="217627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test immediately on failure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2596896"/>
            <a:ext cx="5394960" cy="420624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259689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EXPECT_EQ(a, 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59689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failure, keeps running the 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EXPECT_TRUE / NE / 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30175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failure, keeps running the 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9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EXPECT_* OVER ASSERT_*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31596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EXPECT_* reports every failing check in a single test run, not just the first one — far more useful feedback when several things break at once. Reach for ASSERT_* only when continuing past a failure would be meaningless (e.g., a NULL pointer you're about to dereference).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CMake + GTest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1208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499616"/>
            <a:ext cx="488289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my_project/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CMakeLists.txt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CMakeLists.txt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math_utils.c / .h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CMakeLists.txt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test_math_utils.cpp  # C++!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9496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28232" y="1499616"/>
            <a:ext cx="506577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tests/CMakeLists.txt — real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used in this course: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if(CMAKE_BUILD_TYPE MATCHES "Debug")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find_package(GTest REQUIRED)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include(GoogleTest)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add_executable(tests mytests.cpp)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target_link_libraries(tests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${GTEST_LIBRARIES})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gtest_discover_tests(tests)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E9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"if Debug"?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only build in Debug mode — a common pattern so release builds don't carry test dependencies. gtest_discover_tests() automatically finds every TEST() in your executable and registers it with CTest — no manual add_test() per case.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2926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88752" y="2926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Triangle Classifier — Under Test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3337560"/>
          </a:xfrm>
          <a:prstGeom prst="roundRect">
            <a:avLst>
              <a:gd name="adj" fmla="val 1370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545336"/>
            <a:ext cx="5157216" cy="3081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"C"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#include "../include/sample_gtest/triangle.c"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TEST(TriangleTest, EquilateralTriangle)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EXPECT_EQ(getTriangleType(5,5,5), 1);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TEST(TriangleTest, IsoscelesTriangle)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EXPECT_EQ(getTriangleType(5,5,8), 2);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TEST(TriangleTest, ScaleneTriangle)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EXPECT_EQ(getTriangleType(3,4,5), 3);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TEST(TriangleTest, NotATriangle)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EXPECT_EQ(getTriangleType(1,2,3), 0);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TEST(TriangleTest, InvalidSideValue)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EXPECT_EQ(getTriangleType(0,5,5), -1);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3337560"/>
          </a:xfrm>
          <a:prstGeom prst="roundRect">
            <a:avLst>
              <a:gd name="adj" fmla="val 1644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→ ITS OWN 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Equilateral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output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Isosceles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Scalene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5256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Not a triangle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Type 3 error path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 Invalid side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Type 3 error path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45720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 you saw with assert() in Session 3 — now every return path is covered by an automated test instead of a human eyeballing printf output.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Run, and Read the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-B build -DCMAKE_BUILD_TYPE=Debug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— include the test target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--build 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4414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the project AND the test executable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build &amp;&amp; ctest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218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discovered TEST() and report status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4617720" cy="2377440"/>
          </a:xfrm>
          <a:prstGeom prst="roundRect">
            <a:avLst>
              <a:gd name="adj" fmla="val 192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05472" y="1499616"/>
            <a:ext cx="428853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project /path/to/build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1: TriangleTest.Equilateral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1/5 Test #1: ...... Passed  0.00 sec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2: TriangleTest.Isosceles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2/5 Test #2: ...... Passed  0.00 sec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(3 more) ...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5/5 Test #5: ...... Passed  0.00 sec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tests passed, 0 failed out of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E9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TEST STATUS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E7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test's expectations all held — behavior matches what you wrote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EXPECT_*/ASSERT_* did not hold — ctest shows the exact line and values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2926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88752" y="2926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 — Watch a Test Fail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194560"/>
          </a:xfrm>
          <a:prstGeom prst="roundRect">
            <a:avLst>
              <a:gd name="adj" fmla="val 2083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5157216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triangle.c — introduce a 1-char bug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(side1 + side2 &lt; side3 ||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was &lt;=  ...................^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side1 + side3 &lt;= side2 ||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side2 + side3 &lt;= side1)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  // Not a triangle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2194560"/>
          </a:xfrm>
          <a:prstGeom prst="roundRect">
            <a:avLst>
              <a:gd name="adj" fmla="val 208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8232" y="1591056"/>
            <a:ext cx="5065776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cmake --build build &amp;&amp; ctest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3/5 Test #3: TriangleTest.Scalene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 FAILED  0.00 sec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getTriangleType(3,4,5)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Which is: 0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be equal to: 3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tests passed, 1 failed out of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&lt;= to &lt; in the triangle-inequality check silently breaks the Scalene case (3,4,5 is now misclassified as "Not a triangle")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had to notice — ctest caught the regression instantly, with the exact expected vs. actual values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point of Session 4: assertions couldn't have caught this unless someone manually re-ran testTriangleType(3,4,5) by hand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Layers of Defense Against Errors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solidFill>
            <a:srgbClr val="0F1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039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91672" cy="777240"/>
          </a:xfrm>
          <a:prstGeom prst="rect">
            <a:avLst/>
          </a:prstGeom>
          <a:solidFill>
            <a:srgbClr val="252C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272284"/>
            <a:ext cx="347472" cy="347472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2722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057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06240" y="20574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Syntax/type mistakes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2057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049524"/>
            <a:ext cx="347472" cy="347472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0495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834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(Bugs)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28346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programmer assumption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91672" cy="777240"/>
          </a:xfrm>
          <a:prstGeom prst="rect">
            <a:avLst/>
          </a:prstGeom>
          <a:solidFill>
            <a:srgbClr val="252C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Runtime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0" y="36118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Expected, user/env-triggered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codes + errno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4604004"/>
            <a:ext cx="347472" cy="347472"/>
          </a:xfrm>
          <a:prstGeom prst="ellipse">
            <a:avLst/>
          </a:prstGeom>
          <a:solidFill>
            <a:srgbClr val="B35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6040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43891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206240" y="43891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can't safely continue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4389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abort() / exit()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252C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7240" y="5381244"/>
            <a:ext cx="347472" cy="347472"/>
          </a:xfrm>
          <a:prstGeom prst="ellipse">
            <a:avLst/>
          </a:prstGeom>
          <a:solidFill>
            <a:srgbClr val="1E5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53812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5166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206240" y="5166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silently breaks later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5166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tests (GTest + ctest)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E9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E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errors fall into 5 types: compile-time, logic, recoverable runtime, fatal, and regression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has ONE right detection tool — don't mix them up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GTest's EXPECT_* + ctest automate what assertions can't: checking every case, every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"100% tests passed" is your safety net for refactoring fearlessly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 — POINTERS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begins — the true core of systems-level C programming.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cmake -B build &amp;&amp; cmake --build build &amp;&amp; ctest runs cleanly on your machine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&amp; operator in scanf from Session 1 — Session 5 formalizes it as pointers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installs required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Error Handling &amp; Debugging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3535</Words>
  <Application>Microsoft Office PowerPoint</Application>
  <PresentationFormat>Widescreen</PresentationFormat>
  <Paragraphs>593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ANAS ABBOOD</cp:lastModifiedBy>
  <cp:revision>3</cp:revision>
  <dcterms:created xsi:type="dcterms:W3CDTF">2026-08-14T00:13:07Z</dcterms:created>
  <dcterms:modified xsi:type="dcterms:W3CDTF">2026-08-15T13:00:22Z</dcterms:modified>
</cp:coreProperties>
</file>